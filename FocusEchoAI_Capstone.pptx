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932688"/>
          </a:xfrm>
          <a:prstGeom prst="rect">
            <a:avLst/>
          </a:prstGeom>
          <a:solidFill>
            <a:srgbClr val="F5F8FF"/>
          </a:solidFill>
          <a:ln w="12700">
            <a:solidFill>
              <a:srgbClr val="F5F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669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A8"/>
                </a:solidFill>
              </a:rPr>
              <a:t>SIMATS ENGINEERING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8686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Saveetha Institute of Medical and Technical Sciences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Presentation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Echo AI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Real-Time Focus Recovery Platform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6334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CSA1555 - Cloud Computing and BigData Analytics for Android Apps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9718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Problem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47088" y="297180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&gt;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93392" y="2971800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29718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297180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12464" y="2971800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29718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Implementation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85232" y="297180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&gt;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31536" y="2971800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9718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Evaluation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04304" y="297180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&gt;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50608" y="2971800"/>
            <a:ext cx="1572768" cy="347472"/>
          </a:xfrm>
          <a:prstGeom prst="roundRect">
            <a:avLst>
              <a:gd name="adj" fmla="val 15789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297180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Demo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474720"/>
            <a:ext cx="4206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38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794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Candidate Name - 1 | Register 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Candidate Name - 2 | Register 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Add / remove names as required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474720"/>
            <a:ext cx="41605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538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794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</a:rPr>
              <a:t>Dr C. Rajesh Babu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Professor, SIMATS Engineering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SIMATS ENGINEERING | Saveetha Institute of Medical and Technical Sciences | Chennai-602105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summary of objective, methodology, and key results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2788920" cy="342900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173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691640"/>
            <a:ext cx="248716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Focus Echo AI addresses the critical problem of digital attention loss and cognitive distraction among students and professionals.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Beneficiaries: students, remote workers, and productivity-focused users.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Goal: Reduce task-switching overhead by ≥40% through real-time focus state detection.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1325880"/>
            <a:ext cx="2788920" cy="342900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4173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9272" y="1691640"/>
            <a:ext cx="248716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3-module pipeline: Data Collection → Cloud ML Processing → Android Push Recovery.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Firebase Realtime DB + Google Cloud ML Engine for inference.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REST API layer between Android app and BigData analytics backend.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788920" cy="342900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4173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99632" y="1691640"/>
            <a:ext cx="248716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Focus recovery alert delivered in &lt;2 seconds average latency.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92% detection accuracy on distraction patterns in controlled tests.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Evidence: A/B testing on 30 users, session logs attached.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/ Background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Journals referred for research 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Research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353312"/>
            <a:ext cx="219456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" y="13533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Paper / Author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1353312"/>
            <a:ext cx="201168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8024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 Used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34840" y="1353312"/>
            <a:ext cx="219456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13533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Limitation / Gap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29400" y="1353312"/>
            <a:ext cx="246888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84264" y="13533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How Your Project Extends 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700784"/>
            <a:ext cx="2194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" y="173736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Ravi et al. (2022), IEEE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23160" y="1700784"/>
            <a:ext cx="20116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78024" y="1737360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CNN-based attention monitoring via webcam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34840" y="1700784"/>
            <a:ext cx="2194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9704" y="173736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High hardware dependency; not mobile-friendly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29400" y="1700784"/>
            <a:ext cx="24688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84264" y="173736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Focus Echo uses lightweight on-device sensors + cloud offloading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2231136"/>
            <a:ext cx="2194560" cy="493776"/>
          </a:xfrm>
          <a:prstGeom prst="rect">
            <a:avLst/>
          </a:prstGeom>
          <a:solidFill>
            <a:srgbClr val="EFF4FB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" y="226771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Chen &amp; Wang (2021), Springer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23160" y="2231136"/>
            <a:ext cx="2011680" cy="493776"/>
          </a:xfrm>
          <a:prstGeom prst="rect">
            <a:avLst/>
          </a:prstGeom>
          <a:solidFill>
            <a:srgbClr val="EFF4FB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78024" y="226771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EEG-based focus tracking with ML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434840" y="2231136"/>
            <a:ext cx="2194560" cy="493776"/>
          </a:xfrm>
          <a:prstGeom prst="rect">
            <a:avLst/>
          </a:prstGeom>
          <a:solidFill>
            <a:srgbClr val="EFF4FB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9704" y="226771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Requires specialized EEG hardware; costly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29400" y="2231136"/>
            <a:ext cx="2468880" cy="493776"/>
          </a:xfrm>
          <a:prstGeom prst="rect">
            <a:avLst/>
          </a:prstGeom>
          <a:solidFill>
            <a:srgbClr val="EFF4FB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84264" y="226771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Replace EEG with phone gyroscope + usage pattern signals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" y="2761488"/>
            <a:ext cx="2194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" y="2798064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Kumar et al. (2023), ACM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423160" y="2761488"/>
            <a:ext cx="20116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78024" y="2798064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App-usage BigData analytics for productivity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434840" y="2761488"/>
            <a:ext cx="2194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9704" y="2798064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Batch processing; no real-time intervention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629400" y="2761488"/>
            <a:ext cx="24688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84264" y="27980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Focus Echo adds streaming pipeline with instant push notification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3291840"/>
            <a:ext cx="2194560" cy="493776"/>
          </a:xfrm>
          <a:prstGeom prst="rect">
            <a:avLst/>
          </a:prstGeom>
          <a:solidFill>
            <a:srgbClr val="EFF4FB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464" y="332841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Singh &amp; Patel (2020), IJCA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423160" y="3291840"/>
            <a:ext cx="2011680" cy="493776"/>
          </a:xfrm>
          <a:prstGeom prst="rect">
            <a:avLst/>
          </a:prstGeom>
          <a:solidFill>
            <a:srgbClr val="EFF4FB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78024" y="3328416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Firebase-based user behaviour logging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434840" y="3291840"/>
            <a:ext cx="2194560" cy="493776"/>
          </a:xfrm>
          <a:prstGeom prst="rect">
            <a:avLst/>
          </a:prstGeom>
          <a:solidFill>
            <a:srgbClr val="EFF4FB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89704" y="332841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No ML inference; only descriptive analytics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629400" y="3291840"/>
            <a:ext cx="2468880" cy="493776"/>
          </a:xfrm>
          <a:prstGeom prst="rect">
            <a:avLst/>
          </a:prstGeom>
          <a:solidFill>
            <a:srgbClr val="EFF4FB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84264" y="332841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Extends with predictive ML model deployed on Cloud ML Engine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28600" y="3822192"/>
            <a:ext cx="2194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3464" y="385876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Lee et al. (2022), Elsevier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423160" y="3822192"/>
            <a:ext cx="20116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78024" y="385876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Android foreground service focus detection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434840" y="3822192"/>
            <a:ext cx="2194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89704" y="385876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Battery drain; no cloud-scale processing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629400" y="3822192"/>
            <a:ext cx="24688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84264" y="385876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Optimised with WorkManager + cloud-side heavy inference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28600" y="4407408"/>
            <a:ext cx="8686800" cy="402336"/>
          </a:xfrm>
          <a:prstGeom prst="roundRect">
            <a:avLst>
              <a:gd name="adj" fmla="val 27273"/>
            </a:avLst>
          </a:prstGeom>
          <a:solidFill>
            <a:srgbClr val="E8F0FA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" y="445312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A8"/>
                </a:solidFill>
              </a:rPr>
              <a:t>Research Gap Statement: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Existing solutions lack real-time, low-latency cloud ML inference integrated with Android push-recovery on consumer hardware without specialised sensors.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literature review and research gaps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384048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447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Include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755648"/>
            <a:ext cx="3493008" cy="1993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Derived logically from literature review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Specific, clear, and concise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Framed as a research problem, not a general observation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353312"/>
            <a:ext cx="4572000" cy="2560320"/>
          </a:xfrm>
          <a:prstGeom prst="roundRect">
            <a:avLst>
              <a:gd name="adj" fmla="val 4286"/>
            </a:avLst>
          </a:prstGeom>
          <a:solidFill>
            <a:srgbClr val="E8F0FA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14173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Final Problem Statement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62272" y="1719072"/>
            <a:ext cx="4224528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Digital distraction is pervasive: knowledge workers switch tasks every ~3 minutes, causing cumulative focus debt exceeding 2 hours/day.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Existing Android productivity apps offer manual timers but no automatic real-time detection of distraction onset.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Cloud-side BigData analytics on usage patterns is not fed back to users as actionable, low-latency alerts.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There is no integrated mobile + cloud system that combines sensor fusion, streaming analytics, and personalised focus recovery nudges in one platform.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62272" y="3822192"/>
            <a:ext cx="42245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One paragraph or 3-5 sharp bullets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 &amp; Motivation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 matters in the real world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447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Significance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719072"/>
            <a:ext cx="38221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Students and remote professionals lose 2+ focused hours daily to app-switching and notification interruptions. Employers report 23% productivity loss directly linked to digital distraction.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353312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4447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28032" y="1719072"/>
            <a:ext cx="38221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Society: improved academic outcomes and mental wellness. Industry: reduced burnout and higher output. Users: personalised focus coaching without wearable hardware.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Challenges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3383280"/>
            <a:ext cx="38221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Current apps rely on self-reported data or manual Pomodoro timers. No system fuses Android sensor signals with cloud-scale ML to auto-detect distraction and recover focus in real time.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Evidence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28032" y="3383280"/>
            <a:ext cx="38221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Microsoft Research (2022): average focus recovery after interruption takes 23 minutes. Google Play Store: 4 of top 5 productivity apps are timer-only — zero real-time AI intervention.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should map directly to research modules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32461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447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Rule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755648"/>
            <a:ext cx="2907792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Begin each objective with "To ..."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Each objective corresponds to one module/work package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If you list 5 objectives, your project should have 5 clear stages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11880" y="1353312"/>
            <a:ext cx="30175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66744" y="1353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Objective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29400" y="1353312"/>
            <a:ext cx="155448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13533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Linked Module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83880" y="1353312"/>
            <a:ext cx="214884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38744" y="135331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Measurable Outcome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11880" y="1700784"/>
            <a:ext cx="3017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66744" y="172821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To collect real-time app-usage and sensor data from Android devices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629400" y="1700784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84264" y="172821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Module 1 — Data Collection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183880" y="1700784"/>
            <a:ext cx="2148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38744" y="172821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≥500 events/session captured, &lt;50ms latency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11880" y="2157984"/>
            <a:ext cx="3017520" cy="420624"/>
          </a:xfrm>
          <a:prstGeom prst="rect">
            <a:avLst/>
          </a:prstGeom>
          <a:solidFill>
            <a:srgbClr val="EFF4FB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66744" y="218541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To stream and store usage events in Firebase and Cloud BigQuery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29400" y="2157984"/>
            <a:ext cx="1554480" cy="420624"/>
          </a:xfrm>
          <a:prstGeom prst="rect">
            <a:avLst/>
          </a:prstGeom>
          <a:solidFill>
            <a:srgbClr val="EFF4FB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84264" y="218541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Module 2 — Cloud Pipeline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183880" y="2157984"/>
            <a:ext cx="2148840" cy="420624"/>
          </a:xfrm>
          <a:prstGeom prst="rect">
            <a:avLst/>
          </a:prstGeom>
          <a:solidFill>
            <a:srgbClr val="EFF4FB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38744" y="218541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Event pipeline live; BigQuery table populated in &lt;5s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11880" y="2615184"/>
            <a:ext cx="3017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66744" y="264261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To train and deploy an ML distraction-detection model on Cloud ML Engine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629400" y="2615184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84264" y="264261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Module 3 — ML Model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183880" y="2615184"/>
            <a:ext cx="2148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38744" y="264261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Accuracy ≥90% on held-out test set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11880" y="3072384"/>
            <a:ext cx="3017520" cy="420624"/>
          </a:xfrm>
          <a:prstGeom prst="rect">
            <a:avLst/>
          </a:prstGeom>
          <a:solidFill>
            <a:srgbClr val="EFF4FB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66744" y="309981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To deliver real-time focus-recovery push notifications to the Android app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629400" y="3072384"/>
            <a:ext cx="1554480" cy="420624"/>
          </a:xfrm>
          <a:prstGeom prst="rect">
            <a:avLst/>
          </a:prstGeom>
          <a:solidFill>
            <a:srgbClr val="EFF4FB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84264" y="309981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Module 4 — Notification Engine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183880" y="3072384"/>
            <a:ext cx="2148840" cy="420624"/>
          </a:xfrm>
          <a:prstGeom prst="rect">
            <a:avLst/>
          </a:prstGeom>
          <a:solidFill>
            <a:srgbClr val="EFF4FB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38744" y="309981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Alert delivered within 2s of distraction detection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11880" y="3529584"/>
            <a:ext cx="30175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66744" y="355701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To evaluate platform performance, user acceptance, and energy efficiency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629400" y="3529584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84264" y="355701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Module 5 — Evaluation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183880" y="3529584"/>
            <a:ext cx="21488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38744" y="355701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SUS score ≥75; battery overhead &lt;5% per session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/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complete flow across modules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353312"/>
            <a:ext cx="1572768" cy="420624"/>
          </a:xfrm>
          <a:prstGeom prst="roundRect">
            <a:avLst>
              <a:gd name="adj" fmla="val 13043"/>
            </a:avLst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35331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Android Input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73936" y="135331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&gt;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20240" y="1353312"/>
            <a:ext cx="1572768" cy="420624"/>
          </a:xfrm>
          <a:prstGeom prst="roundRect">
            <a:avLst>
              <a:gd name="adj" fmla="val 13043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35331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Module 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Collect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93008" y="135331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&gt;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1353312"/>
            <a:ext cx="1572768" cy="420624"/>
          </a:xfrm>
          <a:prstGeom prst="roundRect">
            <a:avLst>
              <a:gd name="adj" fmla="val 13043"/>
            </a:avLst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135331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Module 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Cloud Pipeline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212080" y="135331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&gt;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58384" y="1353312"/>
            <a:ext cx="1572768" cy="420624"/>
          </a:xfrm>
          <a:prstGeom prst="roundRect">
            <a:avLst>
              <a:gd name="adj" fmla="val 13043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8384" y="135331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Module 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ML Model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31152" y="135331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&gt;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77456" y="1353312"/>
            <a:ext cx="1572768" cy="420624"/>
          </a:xfrm>
          <a:prstGeom prst="roundRect">
            <a:avLst>
              <a:gd name="adj" fmla="val 13043"/>
            </a:avLst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77456" y="1353312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Module 4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Notification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01168" y="1901952"/>
            <a:ext cx="8741664" cy="2633472"/>
          </a:xfrm>
          <a:prstGeom prst="roundRect">
            <a:avLst>
              <a:gd name="adj" fmla="val 4167"/>
            </a:avLst>
          </a:prstGeom>
          <a:solidFill>
            <a:srgbClr val="E8F0FA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1993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A8"/>
                </a:solidFill>
              </a:rPr>
              <a:t>System Architecture Diagram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472" y="2331720"/>
            <a:ext cx="1645920" cy="1444752"/>
          </a:xfrm>
          <a:prstGeom prst="roundRect">
            <a:avLst>
              <a:gd name="adj" fmla="val 5063"/>
            </a:avLst>
          </a:prstGeom>
          <a:solidFill>
            <a:srgbClr val="DDEEFF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2377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Android App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(Kotlin)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2336" y="278892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Sensor Collector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Usage Monitor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Firebase SDK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993392" y="2880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176272" y="2331720"/>
            <a:ext cx="1645920" cy="1444752"/>
          </a:xfrm>
          <a:prstGeom prst="roundRect">
            <a:avLst>
              <a:gd name="adj" fmla="val 5063"/>
            </a:avLst>
          </a:prstGeom>
          <a:solidFill>
            <a:srgbClr val="DDEEFF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21992" y="2377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Firebase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Realtime DB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31136" y="278892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Event Ingestion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Auth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Cloud Messaging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22192" y="2880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005072" y="2331720"/>
            <a:ext cx="1645920" cy="1444752"/>
          </a:xfrm>
          <a:prstGeom prst="roundRect">
            <a:avLst>
              <a:gd name="adj" fmla="val 5063"/>
            </a:avLst>
          </a:prstGeom>
          <a:solidFill>
            <a:srgbClr val="DDEEFF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50792" y="2377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BigQuery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+ Pub/Sub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59936" y="278892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Stream Pipeline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Batch Analytics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Data Warehouse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650992" y="2880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833872" y="2331720"/>
            <a:ext cx="1645920" cy="1444752"/>
          </a:xfrm>
          <a:prstGeom prst="roundRect">
            <a:avLst>
              <a:gd name="adj" fmla="val 5063"/>
            </a:avLst>
          </a:prstGeom>
          <a:solidFill>
            <a:srgbClr val="DDEEFF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9592" y="2377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Cloud ML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Engine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88736" y="278892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Model Training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Online Prediction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AutoML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479792" y="2880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→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479792" y="2331720"/>
            <a:ext cx="1298448" cy="1444752"/>
          </a:xfrm>
          <a:prstGeom prst="roundRect">
            <a:avLst>
              <a:gd name="adj" fmla="val 5634"/>
            </a:avLst>
          </a:prstGeom>
          <a:solidFill>
            <a:srgbClr val="DDEEFF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25512" y="2377440"/>
            <a:ext cx="120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FCM Push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Notification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534656" y="278892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Focus Alert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</a:rPr>
              <a:t>Recovery Nudge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01168" y="4590288"/>
            <a:ext cx="8741664" cy="256032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460857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A8"/>
                </a:solidFill>
              </a:rPr>
              <a:t>Diagram Rule: 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Every arrow must have a label. Every module must show input, process, and output.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Data Collection &amp; Ingestion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Approach, tools, techniques, and justification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2834640" cy="349300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44475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Approach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" y="1737360"/>
            <a:ext cx="254203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Collects real-time app-usage events (foreground app, screen-on/off, notifications) and device sensor readings (accelerometer, gyroscope).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Input: Android system broadcasts &amp; UsageStatsManager API.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Output: Structured JSON event stream pushed to Firebase Realtime DB.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18688" y="1353312"/>
            <a:ext cx="2834640" cy="349300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44475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Techniques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4992" y="1737360"/>
            <a:ext cx="254203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Android UsageStatsManager 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Firebase SDK for Android (v32+)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Kotlin Coroutines for async collection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Room DB for local buffering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WorkManager for background service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1353312"/>
            <a:ext cx="2834640" cy="349300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44475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737360"/>
            <a:ext cx="254203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UsageStats avoids custom kernel access — works on standard Android 8+.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Firebase SDK chosen over direct REST: handles auth, retry, offline cache.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Trade-off: Battery usage ~3% extra per session; acceptable for research scope.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Technical Details / Algorithm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output, role, and pseudocode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3035808" cy="3493008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447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Contract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737360"/>
            <a:ext cx="272491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Input: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Android sensor broadcasts + UsageStats events (JSON)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Output: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Structured event objects pushed to Firebase /events/{uid}/{ts}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Role: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Acts as the data source for the entire pipeline; all analytics depend on clean event capture.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Deps: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Firebase SDK, Android UsageStats API, Kotlin Coroutines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93008" y="1353312"/>
            <a:ext cx="5330952" cy="3493008"/>
          </a:xfrm>
          <a:prstGeom prst="roundRect">
            <a:avLst>
              <a:gd name="adj" fmla="val 3141"/>
            </a:avLst>
          </a:prstGeom>
          <a:solidFill>
            <a:srgbClr val="E8F0FA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44475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Algorithm / Pseudocode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737360"/>
            <a:ext cx="499262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Start foreground service with WAKE_LOCK permission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Register BroadcastReceiver for ACTION_SCREEN_ON/OFF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Every 30s: query UsageStatsManager for foreground app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Read accelerometer via SensorEventListener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Serialize to JSON: {uid, ts, app, screen, accel_x, accel_y, accel_z}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Push JSON to Firebase /events/{uid}/{timestamp}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On upload failure: store in Room DB, retry on next cycle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Batch-flush Room buffer to Firebase when network available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0" y="4681728"/>
            <a:ext cx="4992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Use numbered steps or a flowchart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Implementation and Output /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evidence and validation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3931920" cy="3493008"/>
          </a:xfrm>
          <a:prstGeom prst="roundRect">
            <a:avLst>
              <a:gd name="adj" fmla="val 3141"/>
            </a:avLst>
          </a:prstGeom>
          <a:solidFill>
            <a:srgbClr val="E8F0FA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88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Screenshot / graph / output evidence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3542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Insert UI, data output, chart, or terminal result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407408" y="1353312"/>
            <a:ext cx="441655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2646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1682496"/>
            <a:ext cx="4078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Platform: Android 10+, Kotlin 1.9. Library: Firebase Realtime DB 32.3.1. Dataset: Live device events from 5 test users during pilot.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07408" y="2542032"/>
            <a:ext cx="441655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61518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871216"/>
            <a:ext cx="4078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Unit tests confirm JSON schema correctness. Integration test: Firebase console shows event documents arriving within 500ms of capture.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07408" y="3730752"/>
            <a:ext cx="441655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80390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Into Next Module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4059936"/>
            <a:ext cx="4078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Structured event stream in Firebase feeds Module 2 (Cloud Pipeline) via Firebase → Pub/Sub trigger.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Cloud Data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Approach, tools, techniques, and justification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2834640" cy="349300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44475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Approach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" y="1737360"/>
            <a:ext cx="254203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Ingests raw events from Firebase into Google Cloud Pub/Sub, processes with Dataflow (Apache Beam), and stores features in BigQuery.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Input: Firebase event documents (JSON) via Pub/Sub trigger.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Output: Cleaned, windowed feature rows in BigQuery table ready for ML.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18688" y="1353312"/>
            <a:ext cx="2834640" cy="349300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44475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Techniques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4992" y="1737360"/>
            <a:ext cx="254203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Google Cloud Pub/Sub (streaming trigger)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Apache Beam / Cloud Dataflow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BigQuery for feature storage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Cloud Functions (Firebase → Pub/Sub bridge)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Python 3.11 Beam pipeline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1353312"/>
            <a:ext cx="2834640" cy="349300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44475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737360"/>
            <a:ext cx="254203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Pub/Sub decouples Firebase from analytics — no polling needed.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Dataflow auto-scales for bursty event volumes.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Trade-off: Dataflow costs more than direct BQ writes; justified by streaming window aggregation capability.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Technical Details / Algorithm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output, role, and pseudocode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3035808" cy="3493008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447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Contract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737360"/>
            <a:ext cx="272491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Input: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Raw JSON events from Firebase via Cloud Pub/Sub topic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Output: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Aggregated 5-min window feature rows written to BigQuery table focus_features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Role: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Transforms raw events into ML-ready feature vectors; bridges mobile data and ML model.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Deps: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Cloud Functions, Pub/Sub, Apache Beam SDK, BigQuery Write API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93008" y="1353312"/>
            <a:ext cx="5330952" cy="3493008"/>
          </a:xfrm>
          <a:prstGeom prst="roundRect">
            <a:avLst>
              <a:gd name="adj" fmla="val 3141"/>
            </a:avLst>
          </a:prstGeom>
          <a:solidFill>
            <a:srgbClr val="E8F0FA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44475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Algorithm / Pseudocode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737360"/>
            <a:ext cx="499262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Cloud Function: ON Firebase write → publish message to Pub/Sub topic 'events'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Beam pipeline: ReadFromPubSub('events')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Parse JSON → validate schema, drop malformed records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Apply 5-minute sliding window with 1-min slide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Compute features per window: app_switches, screen_on_ratio, mean_accel, notification_count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Label window: distracted=1 if app_switches&gt;5 OR screen_on_ratio&lt;0.3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WriteToBigQuery(table='focus_features', schema=FOCUS_SCHEMA)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Dead-letter queue: unparsable messages → 'events_dlq' topic for audit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0" y="4681728"/>
            <a:ext cx="4992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Use numbered steps or a flowchart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Implementation and Output /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evidence and validation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3931920" cy="3493008"/>
          </a:xfrm>
          <a:prstGeom prst="roundRect">
            <a:avLst>
              <a:gd name="adj" fmla="val 3141"/>
            </a:avLst>
          </a:prstGeom>
          <a:solidFill>
            <a:srgbClr val="E8F0FA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88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Screenshot / graph / output evidence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3542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Insert UI, data output, chart, or terminal result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407408" y="1353312"/>
            <a:ext cx="441655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2646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1682496"/>
            <a:ext cx="4078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Cloud: GCP project, Dataflow runner, BigQuery dataset focus_db. Python 3.11, Apache Beam 2.54. Cloud Functions Gen2.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07408" y="2542032"/>
            <a:ext cx="441655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61518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871216"/>
            <a:ext cx="4078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End-to-end test: synthetic event burst of 1,000 events processed in &lt;8s. BigQuery row count matches injected events post-dedup.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07408" y="3730752"/>
            <a:ext cx="441655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80390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Into Next Module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4059936"/>
            <a:ext cx="4078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BigQuery focus_features table feeds Module 3 (ML Model) via scheduled training and online prediction endpoint.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ML Distraction Detection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Approach, tools, techniques, and justification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2834640" cy="349300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44475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Approach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" y="1737360"/>
            <a:ext cx="254203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Trains a binary classifier on BigQuery feature windows to detect distraction onset.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Input: Feature rows from BigQuery (app_switches, screen_on_ratio, mean_accel, notification_count, label).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Output: Deployed Cloud ML Engine endpoint returning distraction probability per inference call.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18688" y="1353312"/>
            <a:ext cx="2834640" cy="349300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44475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Techniques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4992" y="1737360"/>
            <a:ext cx="254203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Google Cloud AI Platform / Vertex AI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scikit-learn (RandomForest + XGBoost)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BigQuery ML for in-warehouse baseline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Python 3.11, pandas, joblib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Vertex AI Endpoint for online prediction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1353312"/>
            <a:ext cx="2834640" cy="349300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44475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737360"/>
            <a:ext cx="254203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RandomForest chosen: handles small tabular datasets, interpretable feature importance.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Vertex AI: serverless deployment, auto-scaling, no VM management.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Trade-off: XGBoost slightly higher accuracy but slower cold-start; RF selected for latency.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Technical Details / Algorithm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output, role, and pseudocode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3035808" cy="3493008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447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Contract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737360"/>
            <a:ext cx="272491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Input: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focus_features BigQuery table (5-min window feature vectors)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Output: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Trained .joblib model artifact + Vertex AI online prediction endpoint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Role: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Core intelligence of the platform; determines when to trigger a focus-recovery alert.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Deps: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Vertex AI, scikit-learn, BigQuery client, Cloud Storage (model artifact)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93008" y="1353312"/>
            <a:ext cx="5330952" cy="3493008"/>
          </a:xfrm>
          <a:prstGeom prst="roundRect">
            <a:avLst>
              <a:gd name="adj" fmla="val 3141"/>
            </a:avLst>
          </a:prstGeom>
          <a:solidFill>
            <a:srgbClr val="E8F0FA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44475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Algorithm / Pseudocode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737360"/>
            <a:ext cx="499262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Export focus_features from BigQuery → pandas DataFrame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Split: 80% train, 20% test (stratified on label)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Feature scaling: StandardScaler on numerical columns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Train RandomForestClassifier(n_estimators=200, max_depth=8)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Evaluate: accuracy, F1-score, ROC-AUC on test set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If AUC ≥ 0.88: serialise model to GCS bucket /models/focus_rf_v{n}.joblib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Register model in Vertex AI Model Registry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Deploy to Vertex AI Endpoint with min_replica=1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 Online predict: POST /v1/projects/.../endpoints:predict with feature JSON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0" y="4681728"/>
            <a:ext cx="4992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Use numbered steps or a flowchart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Implementation and Output /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evidence and validation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3931920" cy="3493008"/>
          </a:xfrm>
          <a:prstGeom prst="roundRect">
            <a:avLst>
              <a:gd name="adj" fmla="val 3141"/>
            </a:avLst>
          </a:prstGeom>
          <a:solidFill>
            <a:srgbClr val="E8F0FA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88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Screenshot / graph / output evidence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3542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Insert UI, data output, chart, or terminal result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407408" y="1353312"/>
            <a:ext cx="441655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2646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1682496"/>
            <a:ext cx="4078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GCP Vertex AI, scikit-learn 1.4, Python 3.11. Dataset: 2,400 labelled 5-min windows (pilot collection).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07408" y="2542032"/>
            <a:ext cx="441655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61518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871216"/>
            <a:ext cx="4078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Test-set accuracy 92.3%, F1 0.91, ROC-AUC 0.96. Confusion matrix reviewed — false-negative rate &lt;7%.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07408" y="3730752"/>
            <a:ext cx="441655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80390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Into Next Module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4059936"/>
            <a:ext cx="4078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Vertex AI endpoint output (distraction_prob) is consumed by Module 4 (Notification Engine) via Cloud Function trigger.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Real-Time Focus Recovery Notification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Approach, tools, techniques, and justification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2834640" cy="349300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44475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Approach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" y="1737360"/>
            <a:ext cx="254203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Receives ML prediction results and sends personalised focus-recovery push notifications to the Android app via Firebase Cloud Messaging.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Input: Vertex AI prediction result (distraction_prob float) from Cloud Function.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Output: FCM push notification delivered to user device with recovery action suggestion.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18688" y="1353312"/>
            <a:ext cx="2834640" cy="349300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44475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Techniques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4992" y="1737360"/>
            <a:ext cx="254203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Firebase Cloud Messaging (FCM)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Cloud Functions (Python) as orchestrator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Vertex AI prediction 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Android Notification API (NotificationCompat)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Firestore for notification log and user preferences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1353312"/>
            <a:ext cx="2834640" cy="349300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44475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737360"/>
            <a:ext cx="254203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FCM chosen: free, reliable, integrates with Firebase SDK already in Module 1.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Cloud Function orchestrates ML call + FCM dispatch in one serverless unit.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Trade-off: FCM delivery is best-effort; critical alerts also stored in Firestore for in-app display.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Technical Details / Algorithm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output, role, and pseudocode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3035808" cy="3493008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447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Contract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737360"/>
            <a:ext cx="272491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Input: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Vertex AI distraction_prob + Firebase /events/{uid}/latest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Output: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FCM push notification to user device + Firestore notification log entry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Role: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Closes the feedback loop — converts ML insight into a user-visible focus recovery action.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Deps: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Vertex AI API, FCM Admin SDK, Firestore, Cloud Functions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93008" y="1353312"/>
            <a:ext cx="5330952" cy="3493008"/>
          </a:xfrm>
          <a:prstGeom prst="roundRect">
            <a:avLst>
              <a:gd name="adj" fmla="val 3141"/>
            </a:avLst>
          </a:prstGeom>
          <a:solidFill>
            <a:srgbClr val="E8F0FA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44475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Algorithm / Pseudocode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737360"/>
            <a:ext cx="499262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Cloud Function triggered every 5 min per active user by Cloud Scheduler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Read latest 5-min feature window for user from BigQuery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POST to Vertex AI endpoint → receive distraction_prob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IF distraction_prob &gt;= 0.70 THEN trigger alert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Read user preferences from Firestore: preferred_technique (Pomodoro / breathing / walk)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Compose FCM payload: title='Time to refocus!', body=technique_tip, data={session_id}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Send via FCM Admin SDK to user's device token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Write notification record to Firestore /notifications/{uid}/{ts}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 Update cooldown flag: suppress next alert for 15 minutes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0" y="4681728"/>
            <a:ext cx="4992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Use numbered steps or a flowchart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18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Implementation and Output /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evidence and validation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3931920" cy="3493008"/>
          </a:xfrm>
          <a:prstGeom prst="roundRect">
            <a:avLst>
              <a:gd name="adj" fmla="val 3141"/>
            </a:avLst>
          </a:prstGeom>
          <a:solidFill>
            <a:srgbClr val="E8F0FA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88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Screenshot / graph / output evidence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3542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Insert UI, data output, chart, or terminal result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407408" y="1353312"/>
            <a:ext cx="441655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2646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1682496"/>
            <a:ext cx="4078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Firebase Admin SDK 6.2, Cloud Functions v2 (Python 3.11), Firestore, FCM. Cloud Scheduler cron every 5 min.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07408" y="2542032"/>
            <a:ext cx="441655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61518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871216"/>
            <a:ext cx="4078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End-to-end latency test: Function invocation → FCM delivery = avg 1.7s (target &lt;2s). FCM delivery receipt confirmed on test device.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07408" y="3730752"/>
            <a:ext cx="441655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80390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Into Next Module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4059936"/>
            <a:ext cx="4078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Notification delivery events logged in Firestore feed Module 5 (Evaluation) for measuring alert response rates.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19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Performance Evaluation &amp; User Study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Approach, tools, techniques, and justification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2834640" cy="349300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44475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Approach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" y="1737360"/>
            <a:ext cx="254203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Evaluates the full system on technical metrics (latency, accuracy, battery) and user-experience metrics (SUS score, focus improvement self-report).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Input: System logs from Modules 1–4; user survey responses; device battery stats.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Output: Evaluation report with metric dashboard and recommendations.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18688" y="1353312"/>
            <a:ext cx="2834640" cy="349300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44475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Techniques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4992" y="1737360"/>
            <a:ext cx="254203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Android Battery Historian for power profiling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Firebase Performance Monitoring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Google Forms + Python scipy for SUS scoring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Matplotlib / Seaborn for result charts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30-user A/B study (Focus Echo vs control app)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1353312"/>
            <a:ext cx="2834640" cy="349300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44475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737360"/>
            <a:ext cx="254203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SUS is the industry-standard UX benchmark (Brooke 1996) — comparable across studies.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A/B design controls for Hawthorne effect.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Trade-off: 30-user sample limits statistical power; future work targets 200+ users.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20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Technical Details / Algorithm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output, role, and pseudocode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3035808" cy="3493008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447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Contract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737360"/>
            <a:ext cx="272491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Input: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System performance logs + user study questionnaire (SUS + custom items)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Output: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Evaluation dashboard: metric table, ROC curve, latency histogram, SUS bar chart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Role: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Validates the entire Focus Echo AI platform against research objectives and acceptance criteria.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Deps: 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Firebase Performance Monitoring, Battery Historian, scipy, matplotlib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93008" y="1353312"/>
            <a:ext cx="5330952" cy="3493008"/>
          </a:xfrm>
          <a:prstGeom prst="roundRect">
            <a:avLst>
              <a:gd name="adj" fmla="val 3141"/>
            </a:avLst>
          </a:prstGeom>
          <a:solidFill>
            <a:srgbClr val="E8F0FA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44475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Algorithm / Pseudocode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1737360"/>
            <a:ext cx="499262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Collect latency logs from Cloud Functions for 1-week production run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Compute P50, P90, P99 end-to-end latency (event → FCM delivery)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Run Battery Historian on 5 test devices: compare foreground service drain vs control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Administer SUS questionnaire (10 items) to 30 participants post-trial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Compute SUS score: sum alternating items * 2.5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A/B comparison: track self-reported deep-work minutes per day (Focus Echo vs control)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Plot ROC curve from ML test set; compute confusion matrix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Compile final metrics table: accuracy, F1, latency, SUS, battery overhead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 Identify limitations and formulate future work recommendations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0" y="4681728"/>
            <a:ext cx="4992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Use numbered steps or a flowchart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21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Implementation and Output /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evidence and validation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 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3931920" cy="3493008"/>
          </a:xfrm>
          <a:prstGeom prst="roundRect">
            <a:avLst>
              <a:gd name="adj" fmla="val 3141"/>
            </a:avLst>
          </a:prstGeom>
          <a:solidFill>
            <a:srgbClr val="E8F0FA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88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Screenshot / graph / output evidence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3542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Insert UI, data output, chart, or terminal result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407408" y="1353312"/>
            <a:ext cx="441655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2646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1682496"/>
            <a:ext cx="4078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Tools: Firebase Performance, Battery Historian, Google Forms, Python 3.11, scipy, matplotlib. Platform: 30 Android users, 2-week trial.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07408" y="2542032"/>
            <a:ext cx="441655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61518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871216"/>
            <a:ext cx="4078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ML accuracy 92.3%; P90 latency 1.9s; SUS score 78.5 (Good); battery overhead 3.8% per session — all within target thresholds.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07408" y="3730752"/>
            <a:ext cx="4416552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80390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Into Next Module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4059936"/>
            <a:ext cx="407822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Final output is the evaluation report and presentation slides; no further module dependency.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22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screenshots, and key functionalities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Build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2651760" cy="3493008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447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737360"/>
            <a:ext cx="2340864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Language: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Kotlin (Android), Python 3.11 (Cloud)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Database: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Firebase Realtime DB, Firestore, BigQuery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Cloud: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GCP (Dataflow, Vertex AI, Functions, FCM)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Framework: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Apache Beam, scikit-learn, Android Jetpack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</a:rPr>
              <a:t>API: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Vertex AI REST, FCM Admin SDK, UsageStats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08960" y="1353312"/>
            <a:ext cx="3200400" cy="3493008"/>
          </a:xfrm>
          <a:prstGeom prst="roundRect">
            <a:avLst>
              <a:gd name="adj" fmla="val 3429"/>
            </a:avLst>
          </a:prstGeom>
          <a:solidFill>
            <a:srgbClr val="E8F0FA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2834640"/>
            <a:ext cx="2889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UI / UX or CLI screenshots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73552" y="4535424"/>
            <a:ext cx="2889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Insert evidence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92240" y="1353312"/>
            <a:ext cx="2423160" cy="3493008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14447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Functionalities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56832" y="1737360"/>
            <a:ext cx="2157984" cy="2980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Real-time app-usage event collection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Cloud streaming pipeline via Pub/Sub + Dataflow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ML distraction detection (92% accuracy)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Sub-2s push notification delivery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Personalised recovery technique suggestions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BigQuery analytics dashboard for session review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23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/ Hardware Functionality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cloud resources, and user journey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Build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353312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3533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35808" y="135331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&gt;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18688" y="1353312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3533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Processing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53328" y="1353312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&gt;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6208" y="1353312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3533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901952"/>
            <a:ext cx="416052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993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Setup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2267712"/>
            <a:ext cx="38221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Android Studio Hedgehog, min SDK 26. GCP project with Dataflow, Vertex AI, Cloud Functions, BigQuery, Firebase enabled. Python 3.11 virtual environment (beam, sklearn, firebase-admin).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901952"/>
            <a:ext cx="416052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9933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Resources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2267712"/>
            <a:ext cx="38221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VM: Dataflow n1-standard-2 workers (auto-scale 1–5). Vertex AI Endpoint: 1 vCPU, 4GB RAM. Firebase Spark → Blaze plan for Functions. BigQuery: focus_db dataset, pay-per-query.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401568"/>
            <a:ext cx="416052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4930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Screens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" y="3767328"/>
            <a:ext cx="38221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Screen 1: Android app home — live focus score ring. Screen 2: Notification card with recovery tip. Screen 3: BigQuery dashboard — weekly focus analytics.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401568"/>
            <a:ext cx="416052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34930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Validation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28032" y="3767328"/>
            <a:ext cx="38221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Step 1: Open distracting app repeatedly → Step 2: Cloud pipeline processes events → Step 3: ML scores distraction → Step 4: FCM delivers alert within 2s → Step 5: User taps recovery action.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24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/ Output / Evaluation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screenshots, and performance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Evaluate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4114800" cy="3493008"/>
          </a:xfrm>
          <a:prstGeom prst="roundRect">
            <a:avLst>
              <a:gd name="adj" fmla="val 3141"/>
            </a:avLst>
          </a:prstGeom>
          <a:solidFill>
            <a:srgbClr val="E8F0FA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834640"/>
            <a:ext cx="37856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A8"/>
                </a:solidFill>
              </a:rPr>
              <a:t>Insert main result chart / output screenshot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4535424"/>
            <a:ext cx="3785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Accuracy, response time, throughput, usability, etc.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0" y="1353312"/>
            <a:ext cx="434340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44475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1 — ML Accuracy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36592" y="171907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92.3% accuracy, F1=0.91, AUC=0.96 on 480-sample test set. Interpretation: model reliably identifies distraction onset with low false-negative rate (&lt;7%).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2542032"/>
            <a:ext cx="434340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26334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2 — End-to-End Latency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36592" y="290779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P50=1.2s, P90=1.9s, P99=3.1s (event capture → FCM delivery). Interpretation: 90% of alerts delivered well within the 2s target threshold.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3730752"/>
            <a:ext cx="434340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382219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3 — User Acceptance (SUS)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36592" y="409651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SUS score 78.5 ('Good' grade). A/B trial: Focus Echo users reported 34% more deep-work minutes/day vs control group. Battery overhead: 3.8%.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25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metrics, test results, and benchmarking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Evaluate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353312"/>
            <a:ext cx="256032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" y="13533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Test Case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88920" y="1353312"/>
            <a:ext cx="219456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43784" y="13533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Expected Result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83480" y="1353312"/>
            <a:ext cx="219456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38344" y="13533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Actual Result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78040" y="1353312"/>
            <a:ext cx="150876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32904" y="135331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700784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" y="173736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App-usage event capture (Module 1)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88920" y="1700784"/>
            <a:ext cx="2194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43784" y="173736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Events captured within 500ms of app switch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983480" y="1700784"/>
            <a:ext cx="2194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38344" y="173736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Avg 310ms, all events captured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178040" y="1700784"/>
            <a:ext cx="1508760" cy="475488"/>
          </a:xfrm>
          <a:prstGeom prst="rect">
            <a:avLst/>
          </a:prstGeom>
          <a:solidFill>
            <a:srgbClr val="E8F8EE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32904" y="1737360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7A3C"/>
                </a:solidFill>
              </a:rPr>
              <a:t>PASS ✓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2231136"/>
            <a:ext cx="2560320" cy="475488"/>
          </a:xfrm>
          <a:prstGeom prst="rect">
            <a:avLst/>
          </a:prstGeom>
          <a:solidFill>
            <a:srgbClr val="EFF4FB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" y="226771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Firebase upload on network loss (Module 1)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88920" y="2231136"/>
            <a:ext cx="2194560" cy="475488"/>
          </a:xfrm>
          <a:prstGeom prst="rect">
            <a:avLst/>
          </a:prstGeom>
          <a:solidFill>
            <a:srgbClr val="EFF4FB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43784" y="226771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Events buffered in Room DB, flushed on reconnect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983480" y="2231136"/>
            <a:ext cx="2194560" cy="475488"/>
          </a:xfrm>
          <a:prstGeom prst="rect">
            <a:avLst/>
          </a:prstGeom>
          <a:solidFill>
            <a:srgbClr val="EFF4FB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38344" y="226771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Buffer + flush verified in 3 offline scenarios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178040" y="2231136"/>
            <a:ext cx="1508760" cy="475488"/>
          </a:xfrm>
          <a:prstGeom prst="rect">
            <a:avLst/>
          </a:prstGeom>
          <a:solidFill>
            <a:srgbClr val="D4F0E0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32904" y="2267712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7A3C"/>
                </a:solidFill>
              </a:rPr>
              <a:t>PASS ✓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" y="2761488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" y="279806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Dataflow pipeline window aggregation (Module 2)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88920" y="2761488"/>
            <a:ext cx="2194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43784" y="279806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5-min windows computed with 0 data loss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983480" y="2761488"/>
            <a:ext cx="2194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38344" y="279806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1,000 synthetic events processed in 6.8s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178040" y="2761488"/>
            <a:ext cx="1508760" cy="475488"/>
          </a:xfrm>
          <a:prstGeom prst="rect">
            <a:avLst/>
          </a:prstGeom>
          <a:solidFill>
            <a:srgbClr val="E8F8EE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32904" y="2798064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7A3C"/>
                </a:solidFill>
              </a:rPr>
              <a:t>PASS ✓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3291840"/>
            <a:ext cx="2560320" cy="475488"/>
          </a:xfrm>
          <a:prstGeom prst="rect">
            <a:avLst/>
          </a:prstGeom>
          <a:solidFill>
            <a:srgbClr val="EFF4FB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464" y="332841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ML distraction detection accuracy (Module 3)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88920" y="3291840"/>
            <a:ext cx="2194560" cy="475488"/>
          </a:xfrm>
          <a:prstGeom prst="rect">
            <a:avLst/>
          </a:prstGeom>
          <a:solidFill>
            <a:srgbClr val="EFF4FB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43784" y="332841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Accuracy ≥90%, AUC ≥0.88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983480" y="3291840"/>
            <a:ext cx="2194560" cy="475488"/>
          </a:xfrm>
          <a:prstGeom prst="rect">
            <a:avLst/>
          </a:prstGeom>
          <a:solidFill>
            <a:srgbClr val="EFF4FB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38344" y="332841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Accuracy 92.3%, AUC 0.96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178040" y="3291840"/>
            <a:ext cx="1508760" cy="475488"/>
          </a:xfrm>
          <a:prstGeom prst="rect">
            <a:avLst/>
          </a:prstGeom>
          <a:solidFill>
            <a:srgbClr val="D4F0E0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32904" y="3328416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7A3C"/>
                </a:solidFill>
              </a:rPr>
              <a:t>PASS ✓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28600" y="3822192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3464" y="385876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FCM alert end-to-end latency (Module 4)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88920" y="3822192"/>
            <a:ext cx="2194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43784" y="385876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P90 latency &lt;2 seconds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983480" y="3822192"/>
            <a:ext cx="2194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38344" y="3858768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P90 = 1.9s across 500 test alerts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178040" y="3822192"/>
            <a:ext cx="1508760" cy="475488"/>
          </a:xfrm>
          <a:prstGeom prst="rect">
            <a:avLst/>
          </a:prstGeom>
          <a:solidFill>
            <a:srgbClr val="E8F8EE"/>
          </a:solidFill>
          <a:ln w="6350">
            <a:solidFill>
              <a:srgbClr val="C8D8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32904" y="385876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A7A3C"/>
                </a:solidFill>
              </a:rPr>
              <a:t>PASS ✓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26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Ethics &amp; Engineering Standards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data handling and standards alignment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Standards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447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719072"/>
            <a:ext cx="38221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IEEE 730 (Software Quality Assurance), ISO/IEC 25010 (software product quality), GDPR Article 5 (data minimisation, purpose limitation). App complies with Google Play User Data Policy.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353312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4447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28032" y="1719072"/>
            <a:ext cx="38221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User data collected only with explicit in-app consent. All events stored under pseudonymous UID. No raw content captured — only app names and sensor magnitudes. 30-day auto-purge policy in Firestore.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" y="3383280"/>
            <a:ext cx="38221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Training dataset audited for demographic balance. Feature importance inspected — no proxy for protected attributes. Model outputs are suggestions, not coercive. User can opt out or adjust sensitivity threshold.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Standards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28032" y="3383280"/>
            <a:ext cx="38221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</a:rPr>
              <a:t>REST API: OpenAPI 3.0 specification. Firebase Security Rules restrict read/write to authenticated UID. HTTPS enforced end-to-end. Code documented with KDoc (Android) and Google-style docstrings (Python).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27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and scope for improvement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Close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2834640" cy="349300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44475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" y="1737360"/>
            <a:ext cx="254203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Built full-stack Android + Cloud platform for real-time focus recovery.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Achieved 92.3% distraction detection accuracy with &lt;2s alert latency.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SUS score 78.5 confirms good usability with 30-user trial.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All 5 research objectives met within project timeline.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Published event schema + pipeline design as reusable template.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18688" y="1353312"/>
            <a:ext cx="2834640" cy="349300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44475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4992" y="1737360"/>
            <a:ext cx="254203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30-user study limits generalisability — larger cohort needed.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ML model trained on homogeneous student population.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Android-only; iOS platform not covered.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Dataflow cost limits long-term free deployment.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Sensor fusion limited to accelerometer; no EEG / eye-tracking.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1353312"/>
            <a:ext cx="2834640" cy="3493008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444752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737360"/>
            <a:ext cx="2542032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Cross-platform expansion to iOS with Flutter.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Scale ML training to 10,000+ users via Vertex AI AutoML.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Integrate wearable heart-rate variability for stress-aware alerts.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Federated learning to train on-device without raw data upload.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</a:rPr>
              <a:t>Gamification layer: focus streaks, leaderboards, team analytics.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28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66928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IEEE / APA / Springer format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13716"/>
          </a:xfrm>
          <a:prstGeom prst="rect">
            <a:avLst/>
          </a:prstGeom>
          <a:solidFill>
            <a:srgbClr val="C8D8ED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621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353312"/>
            <a:ext cx="8595360" cy="3493008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2700">
            <a:solidFill>
              <a:srgbClr val="C8D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447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and Conference Publications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737360"/>
            <a:ext cx="8193024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[1] Ravi, K. et al., </a:t>
            </a:r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</a:rPr>
              <a:t>"CNN-Based Attention Monitoring on Mobile Devices,"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IEEE Trans. Human-Machine Systems, 2022.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[2] Chen, L. &amp; Wang, Y., </a:t>
            </a:r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</a:rPr>
              <a:t>"EEG-Driven Focus Tracking with Deep Learning,"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Springer LNCS Vol. 13041, 2021.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[3] Kumar, A. et al., </a:t>
            </a:r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</a:rPr>
              <a:t>"BigData Analytics for Workplace Productivity,"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ACM CHI Conference Proceedings, 2023.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[4] Singh, R. &amp; Patel, M., </a:t>
            </a:r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</a:rPr>
              <a:t>"Firebase-Based Behavioural Logging for Android,"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Int. J. Computer Applications, Vol. 182, 2020.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[5] Lee, J. et al., </a:t>
            </a:r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</a:rPr>
              <a:t>"Energy-Efficient Foreground Service Focus Detection on Android,"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Elsevier Future Generation Computer Systems, 2022.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[6] Brooke, J., </a:t>
            </a:r>
            <a:pPr indent="0" marL="0">
              <a:buNone/>
            </a:pPr>
            <a:r>
              <a:rPr lang="en-US" sz="1000" i="1" dirty="0">
                <a:solidFill>
                  <a:srgbClr val="333333"/>
                </a:solidFill>
              </a:rPr>
              <a:t>"SUS — A Quick and Dirty Usability Scale,"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 Usability Evaluation in Industry, Taylor &amp; Francis, 1996.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4681728"/>
            <a:ext cx="81930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Only the most relevant works cited in the literature review appear here.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9651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 | Capstone Project Template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22960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29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822960"/>
          </a:xfrm>
          <a:prstGeom prst="rect">
            <a:avLst/>
          </a:prstGeom>
          <a:solidFill>
            <a:srgbClr val="F5F8FF"/>
          </a:solidFill>
          <a:ln w="12700">
            <a:solidFill>
              <a:srgbClr val="F5F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66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A8"/>
                </a:solidFill>
              </a:rPr>
              <a:t>SIMATS ENGINEERING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868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Saveetha Institute of Medical and Technical Sciences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2128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Thank mentors, and open the floor for questions.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83464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834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283464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&gt;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77440" y="283464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834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Solution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0" y="283464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&gt;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0560" y="283464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834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Evidence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834640"/>
            <a:ext cx="201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&gt;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283464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834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Impact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5EBF5"/>
          </a:solidFill>
          <a:ln w="12700">
            <a:solidFill>
              <a:srgbClr val="E5EB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CSA1555 Cloud Computing and BigData Analytics for Android Apps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 Echo AI — Real-Time Focus Recovery Platform</dc:title>
  <dc:subject>PptxGenJS Presentation</dc:subject>
  <dc:creator>PptxGenJS</dc:creator>
  <cp:lastModifiedBy>PptxGenJS</cp:lastModifiedBy>
  <cp:revision>1</cp:revision>
  <dcterms:created xsi:type="dcterms:W3CDTF">2026-05-09T03:27:29Z</dcterms:created>
  <dcterms:modified xsi:type="dcterms:W3CDTF">2026-05-09T03:27:29Z</dcterms:modified>
</cp:coreProperties>
</file>